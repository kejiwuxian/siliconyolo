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5331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2996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0662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8328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5993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3659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1324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990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4321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1987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9652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47318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14984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82649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0315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7980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67665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135331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02996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270662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338328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05993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473659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541324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08990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676656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-2011680" y="-2011680"/>
            <a:ext cx="4754880" cy="4754880"/>
          </a:xfrm>
          <a:prstGeom prst="ellipse">
            <a:avLst/>
          </a:prstGeom>
          <a:solidFill>
            <a:srgbClr val="4F8BFF">
              <a:alpha val="1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326880" y="4206240"/>
            <a:ext cx="4937760" cy="4937760"/>
          </a:xfrm>
          <a:prstGeom prst="ellipse">
            <a:avLst/>
          </a:prstGeom>
          <a:solidFill>
            <a:srgbClr val="F5B544">
              <a:alpha val="1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F1A30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6437376"/>
            <a:ext cx="5486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SiliconYOLO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6437376"/>
            <a:ext cx="55138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 Berkeley AI Hackathon 2026 (Cal Hacks)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0080" y="18745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SiliconYOLO</a:t>
            </a:r>
            <a:endParaRPr lang="en-US" sz="7200" dirty="0"/>
          </a:p>
        </p:txBody>
      </p:sp>
      <p:sp>
        <p:nvSpPr>
          <p:cNvPr id="38" name="Text 36"/>
          <p:cNvSpPr/>
          <p:nvPr/>
        </p:nvSpPr>
        <p:spPr>
          <a:xfrm>
            <a:off x="658368" y="3063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 froze a neural network </a:t>
            </a:r>
            <a:pPr algn="l" indent="0" marL="0">
              <a:buNone/>
            </a:pPr>
            <a:r>
              <a:rPr lang="en-US" sz="3000" b="1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into silicon.</a:t>
            </a:r>
            <a:endParaRPr lang="en-US" sz="3000" dirty="0"/>
          </a:p>
        </p:txBody>
      </p:sp>
      <p:sp>
        <p:nvSpPr>
          <p:cNvPr id="39" name="Text 37"/>
          <p:cNvSpPr/>
          <p:nvPr/>
        </p:nvSpPr>
        <p:spPr>
          <a:xfrm>
            <a:off x="658368" y="3886200"/>
            <a:ext cx="8778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pretrained YOLOv10n detector with its weights hard-wired into multiplier-less logic — real-time object detection at the milliwatt scale.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658368" y="5029200"/>
            <a:ext cx="2112264" cy="502920"/>
          </a:xfrm>
          <a:prstGeom prst="roundRect">
            <a:avLst>
              <a:gd name="adj" fmla="val 49091"/>
            </a:avLst>
          </a:prstGeom>
          <a:solidFill>
            <a:srgbClr val="13203A"/>
          </a:solidFill>
          <a:ln w="15875">
            <a:solidFill>
              <a:srgbClr val="4F8B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5029200"/>
            <a:ext cx="21122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~51 FPS (FPGA)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2999232" y="5029200"/>
            <a:ext cx="2976372" cy="502920"/>
          </a:xfrm>
          <a:prstGeom prst="roundRect">
            <a:avLst>
              <a:gd name="adj" fmla="val 49091"/>
            </a:avLst>
          </a:prstGeom>
          <a:solidFill>
            <a:srgbClr val="13203A"/>
          </a:solidFill>
          <a:ln w="15875">
            <a:solidFill>
              <a:srgbClr val="F5B54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999232" y="5029200"/>
            <a:ext cx="29763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 to ~200 FPS (ASIC)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204204" y="5029200"/>
            <a:ext cx="1001268" cy="502920"/>
          </a:xfrm>
          <a:prstGeom prst="roundRect">
            <a:avLst>
              <a:gd name="adj" fmla="val 49091"/>
            </a:avLst>
          </a:prstGeom>
          <a:solidFill>
            <a:srgbClr val="13203A"/>
          </a:solidFill>
          <a:ln w="15875">
            <a:solidFill>
              <a:srgbClr val="4F8B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04204" y="5029200"/>
            <a:ext cx="10012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DSP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7434072" y="5029200"/>
            <a:ext cx="1124712" cy="502920"/>
          </a:xfrm>
          <a:prstGeom prst="roundRect">
            <a:avLst>
              <a:gd name="adj" fmla="val 49091"/>
            </a:avLst>
          </a:prstGeom>
          <a:solidFill>
            <a:srgbClr val="13203A"/>
          </a:solidFill>
          <a:ln w="15875">
            <a:solidFill>
              <a:srgbClr val="F5B54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34072" y="5029200"/>
            <a:ext cx="11247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~3.2 W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8787384" y="5029200"/>
            <a:ext cx="877824" cy="502920"/>
          </a:xfrm>
          <a:prstGeom prst="roundRect">
            <a:avLst>
              <a:gd name="adj" fmla="val 49091"/>
            </a:avLst>
          </a:prstGeom>
          <a:solidFill>
            <a:srgbClr val="13203A"/>
          </a:solidFill>
          <a:ln w="15875">
            <a:solidFill>
              <a:srgbClr val="4F8B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787384" y="5029200"/>
            <a:ext cx="8778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INT8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58368" y="5806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AI agents · one chip · orchestrated by Simular Sai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5331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2996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0662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8328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5993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3659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1324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990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4321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1987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9652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47318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14984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82649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0315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7980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67665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135331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02996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270662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338328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05993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473659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541324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08990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676656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-2011680" y="-2011680"/>
            <a:ext cx="4754880" cy="4754880"/>
          </a:xfrm>
          <a:prstGeom prst="ellipse">
            <a:avLst/>
          </a:prstGeom>
          <a:solidFill>
            <a:srgbClr val="4F8BFF">
              <a:alpha val="1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326880" y="4206240"/>
            <a:ext cx="4937760" cy="4937760"/>
          </a:xfrm>
          <a:prstGeom prst="ellipse">
            <a:avLst/>
          </a:prstGeom>
          <a:solidFill>
            <a:srgbClr val="F5B544">
              <a:alpha val="1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F1A30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6437376"/>
            <a:ext cx="5486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SiliconYOLO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6437376"/>
            <a:ext cx="55138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Fixed-weight YOLOv10n · Kintex-7 (XC7K325T)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◆ </a:t>
            </a:r>
            <a:pPr algn="l" indent="0" marL="0">
              <a:buNone/>
            </a:pPr>
            <a:r>
              <a:rPr lang="en-US" sz="1300" b="1" spc="200" kern="0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607040" y="45720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 AI is stuck between a rock and the cloud</a:t>
            </a:r>
            <a:endParaRPr lang="en-US" sz="3600" dirty="0"/>
          </a:p>
        </p:txBody>
      </p:sp>
      <p:sp>
        <p:nvSpPr>
          <p:cNvPr id="40" name="Shape 38"/>
          <p:cNvSpPr/>
          <p:nvPr/>
        </p:nvSpPr>
        <p:spPr>
          <a:xfrm>
            <a:off x="640080" y="210312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60120" y="2377440"/>
            <a:ext cx="822960" cy="822960"/>
          </a:xfrm>
          <a:prstGeom prst="ellipse">
            <a:avLst/>
          </a:prstGeom>
          <a:solidFill>
            <a:srgbClr val="0F1A30"/>
          </a:solidFill>
          <a:ln w="15875">
            <a:solidFill>
              <a:srgbClr val="F5B54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0120" y="23774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914400" y="338328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Power-hungry</a:t>
            </a:r>
            <a:endParaRPr lang="en-US" sz="1900" dirty="0"/>
          </a:p>
        </p:txBody>
      </p:sp>
      <p:sp>
        <p:nvSpPr>
          <p:cNvPr id="44" name="Text 42"/>
          <p:cNvSpPr/>
          <p:nvPr/>
        </p:nvSpPr>
        <p:spPr>
          <a:xfrm>
            <a:off x="914400" y="388620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GPUs and SoCs burn watts. Battery-powered vision is a non-starter at 15 W.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4370832" y="210312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690872" y="2377440"/>
            <a:ext cx="822960" cy="822960"/>
          </a:xfrm>
          <a:prstGeom prst="ellipse">
            <a:avLst/>
          </a:prstGeom>
          <a:solidFill>
            <a:srgbClr val="0F1A30"/>
          </a:solidFill>
          <a:ln w="15875">
            <a:solidFill>
              <a:srgbClr val="F5B54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90872" y="23774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☁️</a:t>
            </a:r>
            <a:endParaRPr lang="en-US" sz="2600" dirty="0"/>
          </a:p>
        </p:txBody>
      </p:sp>
      <p:sp>
        <p:nvSpPr>
          <p:cNvPr id="48" name="Text 46"/>
          <p:cNvSpPr/>
          <p:nvPr/>
        </p:nvSpPr>
        <p:spPr>
          <a:xfrm>
            <a:off x="4645152" y="338328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Cloud-dependent</a:t>
            </a:r>
            <a:endParaRPr lang="en-US" sz="1900" dirty="0"/>
          </a:p>
        </p:txBody>
      </p:sp>
      <p:sp>
        <p:nvSpPr>
          <p:cNvPr id="49" name="Text 47"/>
          <p:cNvSpPr/>
          <p:nvPr/>
        </p:nvSpPr>
        <p:spPr>
          <a:xfrm>
            <a:off x="4645152" y="388620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Round-trips add latency and cost — and your pixels leave the device.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8101584" y="210312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421624" y="2377440"/>
            <a:ext cx="822960" cy="822960"/>
          </a:xfrm>
          <a:prstGeom prst="ellipse">
            <a:avLst/>
          </a:prstGeom>
          <a:solidFill>
            <a:srgbClr val="0F1A30"/>
          </a:solidFill>
          <a:ln w="15875">
            <a:solidFill>
              <a:srgbClr val="F5B54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421624" y="23774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💸</a:t>
            </a:r>
            <a:endParaRPr lang="en-US" sz="2600" dirty="0"/>
          </a:p>
        </p:txBody>
      </p:sp>
      <p:sp>
        <p:nvSpPr>
          <p:cNvPr id="53" name="Text 51"/>
          <p:cNvSpPr/>
          <p:nvPr/>
        </p:nvSpPr>
        <p:spPr>
          <a:xfrm>
            <a:off x="8375904" y="338328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Expensive at scale</a:t>
            </a:r>
            <a:endParaRPr lang="en-US" sz="1900" dirty="0"/>
          </a:p>
        </p:txBody>
      </p:sp>
      <p:sp>
        <p:nvSpPr>
          <p:cNvPr id="54" name="Text 52"/>
          <p:cNvSpPr/>
          <p:nvPr/>
        </p:nvSpPr>
        <p:spPr>
          <a:xfrm>
            <a:off x="8375904" y="388620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Per-unit silicon + 3-year energy bills dominate fleet economics.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640080" y="5349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if the model didn't need a processor at all — because the model IS the chip?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5331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2996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0662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8328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5993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3659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1324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990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4321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1987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9652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47318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14984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82649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0315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7980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67665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135331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02996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270662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338328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05993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473659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541324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08990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676656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-2011680" y="-2011680"/>
            <a:ext cx="4754880" cy="4754880"/>
          </a:xfrm>
          <a:prstGeom prst="ellipse">
            <a:avLst/>
          </a:prstGeom>
          <a:solidFill>
            <a:srgbClr val="4F8BFF">
              <a:alpha val="1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326880" y="4206240"/>
            <a:ext cx="4937760" cy="4937760"/>
          </a:xfrm>
          <a:prstGeom prst="ellipse">
            <a:avLst/>
          </a:prstGeom>
          <a:solidFill>
            <a:srgbClr val="F5B544">
              <a:alpha val="1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F1A30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6437376"/>
            <a:ext cx="5486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SiliconYOLO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6437376"/>
            <a:ext cx="55138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Fixed-weight YOLOv10n · Kintex-7 (XC7K325T)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◆ </a:t>
            </a:r>
            <a:pPr algn="l" indent="0" marL="0">
              <a:buNone/>
            </a:pPr>
            <a:r>
              <a:rPr lang="en-US" sz="1300" b="1" spc="200" kern="0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IDEA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607040" y="45720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Freeze the weights into the silicon</a:t>
            </a:r>
            <a:endParaRPr lang="en-US" sz="3600" dirty="0"/>
          </a:p>
        </p:txBody>
      </p:sp>
      <p:sp>
        <p:nvSpPr>
          <p:cNvPr id="40" name="Text 38"/>
          <p:cNvSpPr/>
          <p:nvPr/>
        </p:nvSpPr>
        <p:spPr>
          <a:xfrm>
            <a:off x="640080" y="1828800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trained network is just a fixed set of numbers. So we bake those numbers directly into hardware — every weight becomes constant-coefficient logic, not a value fetched from memory.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640080" y="3429000"/>
            <a:ext cx="6400800" cy="731520"/>
          </a:xfrm>
          <a:prstGeom prst="roundRect">
            <a:avLst>
              <a:gd name="adj" fmla="val 11250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7240" y="34290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3D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1280160" y="3429000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weight SRAM, no DRAM  </a:t>
            </a:r>
            <a:pPr indent="0" marL="0">
              <a:buNone/>
            </a:pPr>
            <a:r>
              <a:rPr lang="en-US" sz="145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weights live in the gates themselves</a:t>
            </a:r>
            <a:endParaRPr lang="en-US" sz="1450" dirty="0"/>
          </a:p>
        </p:txBody>
      </p:sp>
      <p:sp>
        <p:nvSpPr>
          <p:cNvPr id="44" name="Shape 42"/>
          <p:cNvSpPr/>
          <p:nvPr/>
        </p:nvSpPr>
        <p:spPr>
          <a:xfrm>
            <a:off x="640080" y="4270248"/>
            <a:ext cx="6400800" cy="731520"/>
          </a:xfrm>
          <a:prstGeom prst="roundRect">
            <a:avLst>
              <a:gd name="adj" fmla="val 11250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77240" y="4270248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3D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280160" y="4270248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DSP blocks  </a:t>
            </a:r>
            <a:pPr indent="0" marL="0">
              <a:buNone/>
            </a:pPr>
            <a:r>
              <a:rPr lang="en-US" sz="145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multiplies become CSD shift-add logic</a:t>
            </a:r>
            <a:endParaRPr lang="en-US" sz="1450" dirty="0"/>
          </a:p>
        </p:txBody>
      </p:sp>
      <p:sp>
        <p:nvSpPr>
          <p:cNvPr id="47" name="Shape 45"/>
          <p:cNvSpPr/>
          <p:nvPr/>
        </p:nvSpPr>
        <p:spPr>
          <a:xfrm>
            <a:off x="640080" y="5111496"/>
            <a:ext cx="6400800" cy="731520"/>
          </a:xfrm>
          <a:prstGeom prst="roundRect">
            <a:avLst>
              <a:gd name="adj" fmla="val 11250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77240" y="5111496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3D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</a:t>
            </a:r>
            <a:endParaRPr lang="en-US" sz="2000" dirty="0"/>
          </a:p>
        </p:txBody>
      </p:sp>
      <p:sp>
        <p:nvSpPr>
          <p:cNvPr id="49" name="Text 47"/>
          <p:cNvSpPr/>
          <p:nvPr/>
        </p:nvSpPr>
        <p:spPr>
          <a:xfrm>
            <a:off x="1280160" y="5111496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latency  </a:t>
            </a:r>
            <a:pPr indent="0" marL="0">
              <a:buNone/>
            </a:pPr>
            <a:r>
              <a:rPr lang="en-US" sz="145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 pure feed-forward pipeline, every frame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7360920" y="1828800"/>
            <a:ext cx="4206240" cy="4023360"/>
          </a:xfrm>
          <a:prstGeom prst="roundRect">
            <a:avLst>
              <a:gd name="adj" fmla="val 2045"/>
            </a:avLst>
          </a:prstGeom>
          <a:solidFill>
            <a:srgbClr val="0F1A30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60920" y="201168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MODEL = THE COMPUTER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7635240" y="2606040"/>
            <a:ext cx="3657600" cy="822960"/>
          </a:xfrm>
          <a:prstGeom prst="roundRect">
            <a:avLst>
              <a:gd name="adj" fmla="val 7778"/>
            </a:avLst>
          </a:prstGeom>
          <a:solidFill>
            <a:srgbClr val="13203A"/>
          </a:solidFill>
          <a:ln w="15875">
            <a:solidFill>
              <a:srgbClr val="4F8B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72400" y="260604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 </a:t>
            </a:r>
            <a:pPr indent="0" marL="0">
              <a:buNone/>
            </a:pPr>
            <a:r>
              <a:rPr lang="en-US" sz="14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as logic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7635240" y="3392424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0D0"/>
                </a:solidFill>
              </a:rPr>
              <a:t>▼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7635240" y="3593592"/>
            <a:ext cx="3657600" cy="822960"/>
          </a:xfrm>
          <a:prstGeom prst="roundRect">
            <a:avLst>
              <a:gd name="adj" fmla="val 7778"/>
            </a:avLst>
          </a:prstGeom>
          <a:solidFill>
            <a:srgbClr val="13203A"/>
          </a:solidFill>
          <a:ln w="15875">
            <a:solidFill>
              <a:srgbClr val="7FB2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72400" y="3593592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datapath  </a:t>
            </a:r>
            <a:pPr indent="0" marL="0">
              <a:buNone/>
            </a:pPr>
            <a:r>
              <a:rPr lang="en-US" sz="14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CSD MAC array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7635240" y="4379976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0D0"/>
                </a:solidFill>
              </a:rPr>
              <a:t>▼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7635240" y="4581144"/>
            <a:ext cx="3657600" cy="822960"/>
          </a:xfrm>
          <a:prstGeom prst="roundRect">
            <a:avLst>
              <a:gd name="adj" fmla="val 7778"/>
            </a:avLst>
          </a:prstGeom>
          <a:solidFill>
            <a:srgbClr val="13203A"/>
          </a:solidFill>
          <a:ln w="15875">
            <a:solidFill>
              <a:srgbClr val="F5B54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72400" y="4581144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 in →  </a:t>
            </a:r>
            <a:pPr indent="0" marL="0">
              <a:buNone/>
            </a:pPr>
            <a:r>
              <a:rPr lang="en-US" sz="14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detections out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5331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2996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0662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8328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5993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3659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1324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990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4321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1987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9652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47318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14984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82649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0315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7980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67665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135331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02996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270662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338328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05993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473659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541324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08990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676656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-2011680" y="-2011680"/>
            <a:ext cx="4754880" cy="4754880"/>
          </a:xfrm>
          <a:prstGeom prst="ellipse">
            <a:avLst/>
          </a:prstGeom>
          <a:solidFill>
            <a:srgbClr val="4F8BFF">
              <a:alpha val="1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326880" y="4206240"/>
            <a:ext cx="4937760" cy="4937760"/>
          </a:xfrm>
          <a:prstGeom prst="ellipse">
            <a:avLst/>
          </a:prstGeom>
          <a:solidFill>
            <a:srgbClr val="F5B544">
              <a:alpha val="1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F1A30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6437376"/>
            <a:ext cx="5486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SiliconYOLO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6437376"/>
            <a:ext cx="55138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Fixed-weight YOLOv10n · Kintex-7 (XC7K325T)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◆ </a:t>
            </a:r>
            <a:pPr algn="l" indent="0" marL="0">
              <a:buNone/>
            </a:pPr>
            <a:r>
              <a:rPr lang="en-US" sz="1300" b="1" spc="200" kern="0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CHOICE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607040" y="45720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YOLOv10n: a whole block vanishes</a:t>
            </a:r>
            <a:endParaRPr lang="en-US" sz="3600" dirty="0"/>
          </a:p>
        </p:txBody>
      </p:sp>
      <p:sp>
        <p:nvSpPr>
          <p:cNvPr id="40" name="Shape 38"/>
          <p:cNvSpPr/>
          <p:nvPr/>
        </p:nvSpPr>
        <p:spPr>
          <a:xfrm>
            <a:off x="640080" y="1920240"/>
            <a:ext cx="5394960" cy="3977640"/>
          </a:xfrm>
          <a:prstGeom prst="roundRect">
            <a:avLst>
              <a:gd name="adj" fmla="val 2069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68680" y="21031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B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OLDER DETECTORS (YOLOv5/v8)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68680" y="25146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→ Neck → Head
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5B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Non-Max Suppression (NMS)
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NMS = sorting + IoU loops = an awkward, data-dependent block that fights an FPGA pipeline.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68680" y="4160520"/>
            <a:ext cx="4937760" cy="0"/>
          </a:xfrm>
          <a:prstGeom prst="line">
            <a:avLst/>
          </a:prstGeom>
          <a:noFill/>
          <a:ln w="12700">
            <a:solidFill>
              <a:srgbClr val="27365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8680" y="42976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3D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YOLOv10n — NMS-FREE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68680" y="466344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dual-label training removes NMS entirely. What's left is a clean feed-forward graph that maps beautifully onto silicon.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6355080" y="1920240"/>
            <a:ext cx="2514600" cy="1783080"/>
          </a:xfrm>
          <a:prstGeom prst="roundRect">
            <a:avLst>
              <a:gd name="adj" fmla="val 4615"/>
            </a:avLst>
          </a:prstGeom>
          <a:solidFill>
            <a:srgbClr val="0F1A30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55080" y="210312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2.3 M</a:t>
            </a:r>
            <a:endParaRPr lang="en-US" sz="3000" dirty="0"/>
          </a:p>
        </p:txBody>
      </p:sp>
      <p:sp>
        <p:nvSpPr>
          <p:cNvPr id="48" name="Text 46"/>
          <p:cNvSpPr/>
          <p:nvPr/>
        </p:nvSpPr>
        <p:spPr>
          <a:xfrm>
            <a:off x="6446520" y="29718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9052560" y="1920240"/>
            <a:ext cx="2514600" cy="1783080"/>
          </a:xfrm>
          <a:prstGeom prst="roundRect">
            <a:avLst>
              <a:gd name="adj" fmla="val 4615"/>
            </a:avLst>
          </a:prstGeom>
          <a:solidFill>
            <a:srgbClr val="0F1A30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052560" y="210312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6.7</a:t>
            </a:r>
            <a:endParaRPr lang="en-US" sz="3000" dirty="0"/>
          </a:p>
        </p:txBody>
      </p:sp>
      <p:sp>
        <p:nvSpPr>
          <p:cNvPr id="51" name="Text 49"/>
          <p:cNvSpPr/>
          <p:nvPr/>
        </p:nvSpPr>
        <p:spPr>
          <a:xfrm>
            <a:off x="9144000" y="29718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GFLOPs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6355080" y="3913632"/>
            <a:ext cx="2514600" cy="1783080"/>
          </a:xfrm>
          <a:prstGeom prst="roundRect">
            <a:avLst>
              <a:gd name="adj" fmla="val 4615"/>
            </a:avLst>
          </a:prstGeom>
          <a:solidFill>
            <a:srgbClr val="0F1A30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55080" y="4096512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3D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NMS-free</a:t>
            </a:r>
            <a:endParaRPr lang="en-US" sz="3000" dirty="0"/>
          </a:p>
        </p:txBody>
      </p:sp>
      <p:sp>
        <p:nvSpPr>
          <p:cNvPr id="54" name="Text 52"/>
          <p:cNvSpPr/>
          <p:nvPr/>
        </p:nvSpPr>
        <p:spPr>
          <a:xfrm>
            <a:off x="6446520" y="4965192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9052560" y="3913632"/>
            <a:ext cx="2514600" cy="1783080"/>
          </a:xfrm>
          <a:prstGeom prst="roundRect">
            <a:avLst>
              <a:gd name="adj" fmla="val 4615"/>
            </a:avLst>
          </a:prstGeom>
          <a:solidFill>
            <a:srgbClr val="0F1A30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052560" y="4096512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640×640</a:t>
            </a:r>
            <a:endParaRPr lang="en-US" sz="3000" dirty="0"/>
          </a:p>
        </p:txBody>
      </p:sp>
      <p:sp>
        <p:nvSpPr>
          <p:cNvPr id="57" name="Text 55"/>
          <p:cNvSpPr/>
          <p:nvPr/>
        </p:nvSpPr>
        <p:spPr>
          <a:xfrm>
            <a:off x="9144000" y="4965192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80-class COCO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5331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2996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0662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8328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5993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3659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1324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990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4321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1987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9652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47318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14984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82649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0315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7980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67665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135331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02996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270662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338328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05993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473659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541324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08990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676656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-2011680" y="-2011680"/>
            <a:ext cx="4754880" cy="4754880"/>
          </a:xfrm>
          <a:prstGeom prst="ellipse">
            <a:avLst/>
          </a:prstGeom>
          <a:solidFill>
            <a:srgbClr val="4F8BFF">
              <a:alpha val="1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326880" y="4206240"/>
            <a:ext cx="4937760" cy="4937760"/>
          </a:xfrm>
          <a:prstGeom prst="ellipse">
            <a:avLst/>
          </a:prstGeom>
          <a:solidFill>
            <a:srgbClr val="F5B544">
              <a:alpha val="1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F1A30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6437376"/>
            <a:ext cx="5486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SiliconYOLO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6437376"/>
            <a:ext cx="55138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Fixed-weight YOLOv10n · Kintex-7 (XC7K325T)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◆ </a:t>
            </a:r>
            <a:pPr algn="l" indent="0" marL="0">
              <a:buNone/>
            </a:pPr>
            <a:r>
              <a:rPr lang="en-US" sz="1300" b="1" spc="200" kern="0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PIPELINE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607040" y="45720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pretrained model to metal — no retraining</a:t>
            </a:r>
            <a:endParaRPr lang="en-US" sz="3600" dirty="0"/>
          </a:p>
        </p:txBody>
      </p:sp>
      <p:sp>
        <p:nvSpPr>
          <p:cNvPr id="40" name="Shape 38"/>
          <p:cNvSpPr/>
          <p:nvPr/>
        </p:nvSpPr>
        <p:spPr>
          <a:xfrm>
            <a:off x="640080" y="2468880"/>
            <a:ext cx="2084832" cy="2194560"/>
          </a:xfrm>
          <a:prstGeom prst="roundRect">
            <a:avLst>
              <a:gd name="adj" fmla="val 3947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298448" y="2724912"/>
            <a:ext cx="768096" cy="768096"/>
          </a:xfrm>
          <a:prstGeom prst="ellipse">
            <a:avLst/>
          </a:prstGeom>
          <a:solidFill>
            <a:srgbClr val="0F1A30"/>
          </a:solidFill>
          <a:ln w="19050">
            <a:solidFill>
              <a:srgbClr val="4F8B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298448" y="272491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F8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400" dirty="0"/>
          </a:p>
        </p:txBody>
      </p:sp>
      <p:sp>
        <p:nvSpPr>
          <p:cNvPr id="43" name="Text 41"/>
          <p:cNvSpPr/>
          <p:nvPr/>
        </p:nvSpPr>
        <p:spPr>
          <a:xfrm>
            <a:off x="731520" y="3611880"/>
            <a:ext cx="19019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Pretrained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749808" y="4041648"/>
            <a:ext cx="186537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YOLOv10n COCO weights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2688336" y="2468880"/>
            <a:ext cx="23774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B544"/>
                </a:solidFill>
              </a:rPr>
              <a:t>→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2889504" y="2468880"/>
            <a:ext cx="2084832" cy="2194560"/>
          </a:xfrm>
          <a:prstGeom prst="roundRect">
            <a:avLst>
              <a:gd name="adj" fmla="val 3947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547872" y="2724912"/>
            <a:ext cx="768096" cy="768096"/>
          </a:xfrm>
          <a:prstGeom prst="ellipse">
            <a:avLst/>
          </a:prstGeom>
          <a:solidFill>
            <a:srgbClr val="0F1A30"/>
          </a:solidFill>
          <a:ln w="19050">
            <a:solidFill>
              <a:srgbClr val="7FB2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547872" y="272491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400" dirty="0"/>
          </a:p>
        </p:txBody>
      </p:sp>
      <p:sp>
        <p:nvSpPr>
          <p:cNvPr id="49" name="Text 47"/>
          <p:cNvSpPr/>
          <p:nvPr/>
        </p:nvSpPr>
        <p:spPr>
          <a:xfrm>
            <a:off x="2980944" y="3611880"/>
            <a:ext cx="19019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INT8 PTQ</a:t>
            </a:r>
            <a:endParaRPr lang="en-US" sz="1700" dirty="0"/>
          </a:p>
        </p:txBody>
      </p:sp>
      <p:sp>
        <p:nvSpPr>
          <p:cNvPr id="50" name="Text 48"/>
          <p:cNvSpPr/>
          <p:nvPr/>
        </p:nvSpPr>
        <p:spPr>
          <a:xfrm>
            <a:off x="2999232" y="4041648"/>
            <a:ext cx="186537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post-training quant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4937760" y="2468880"/>
            <a:ext cx="23774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B544"/>
                </a:solidFill>
              </a:rPr>
              <a:t>→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5138928" y="2468880"/>
            <a:ext cx="2084832" cy="2194560"/>
          </a:xfrm>
          <a:prstGeom prst="roundRect">
            <a:avLst>
              <a:gd name="adj" fmla="val 3947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797296" y="2724912"/>
            <a:ext cx="768096" cy="768096"/>
          </a:xfrm>
          <a:prstGeom prst="ellipse">
            <a:avLst/>
          </a:prstGeom>
          <a:solidFill>
            <a:srgbClr val="0F1A30"/>
          </a:solidFill>
          <a:ln w="19050">
            <a:solidFill>
              <a:srgbClr val="F5B54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97296" y="272491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400" dirty="0"/>
          </a:p>
        </p:txBody>
      </p:sp>
      <p:sp>
        <p:nvSpPr>
          <p:cNvPr id="55" name="Text 53"/>
          <p:cNvSpPr/>
          <p:nvPr/>
        </p:nvSpPr>
        <p:spPr>
          <a:xfrm>
            <a:off x="5230368" y="3611880"/>
            <a:ext cx="19019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Freeze</a:t>
            </a:r>
            <a:endParaRPr lang="en-US" sz="1700" dirty="0"/>
          </a:p>
        </p:txBody>
      </p:sp>
      <p:sp>
        <p:nvSpPr>
          <p:cNvPr id="56" name="Text 54"/>
          <p:cNvSpPr/>
          <p:nvPr/>
        </p:nvSpPr>
        <p:spPr>
          <a:xfrm>
            <a:off x="5248656" y="4041648"/>
            <a:ext cx="186537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weight contract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7187184" y="2468880"/>
            <a:ext cx="23774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B544"/>
                </a:solidFill>
              </a:rPr>
              <a:t>→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7388352" y="2468880"/>
            <a:ext cx="2084832" cy="2194560"/>
          </a:xfrm>
          <a:prstGeom prst="roundRect">
            <a:avLst>
              <a:gd name="adj" fmla="val 3947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046720" y="2724912"/>
            <a:ext cx="768096" cy="768096"/>
          </a:xfrm>
          <a:prstGeom prst="ellipse">
            <a:avLst/>
          </a:prstGeom>
          <a:solidFill>
            <a:srgbClr val="0F1A30"/>
          </a:solidFill>
          <a:ln w="19050">
            <a:solidFill>
              <a:srgbClr val="7FB2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046720" y="272491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400" dirty="0"/>
          </a:p>
        </p:txBody>
      </p:sp>
      <p:sp>
        <p:nvSpPr>
          <p:cNvPr id="61" name="Text 59"/>
          <p:cNvSpPr/>
          <p:nvPr/>
        </p:nvSpPr>
        <p:spPr>
          <a:xfrm>
            <a:off x="7479792" y="3611880"/>
            <a:ext cx="19019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CSD RTL</a:t>
            </a:r>
            <a:endParaRPr lang="en-US" sz="1700" dirty="0"/>
          </a:p>
        </p:txBody>
      </p:sp>
      <p:sp>
        <p:nvSpPr>
          <p:cNvPr id="62" name="Text 60"/>
          <p:cNvSpPr/>
          <p:nvPr/>
        </p:nvSpPr>
        <p:spPr>
          <a:xfrm>
            <a:off x="7498080" y="4041648"/>
            <a:ext cx="186537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Cognichip generates HW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9436608" y="2468880"/>
            <a:ext cx="23774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B544"/>
                </a:solidFill>
              </a:rPr>
              <a:t>→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9637776" y="2468880"/>
            <a:ext cx="2084832" cy="2194560"/>
          </a:xfrm>
          <a:prstGeom prst="roundRect">
            <a:avLst>
              <a:gd name="adj" fmla="val 3947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0296144" y="2724912"/>
            <a:ext cx="768096" cy="768096"/>
          </a:xfrm>
          <a:prstGeom prst="ellipse">
            <a:avLst/>
          </a:prstGeom>
          <a:solidFill>
            <a:srgbClr val="0F1A30"/>
          </a:solidFill>
          <a:ln w="19050">
            <a:solidFill>
              <a:srgbClr val="53D08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296144" y="272491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3D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400" dirty="0"/>
          </a:p>
        </p:txBody>
      </p:sp>
      <p:sp>
        <p:nvSpPr>
          <p:cNvPr id="67" name="Text 65"/>
          <p:cNvSpPr/>
          <p:nvPr/>
        </p:nvSpPr>
        <p:spPr>
          <a:xfrm>
            <a:off x="9729216" y="3611880"/>
            <a:ext cx="19019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Kintex-7</a:t>
            </a:r>
            <a:endParaRPr lang="en-US" sz="1700" dirty="0"/>
          </a:p>
        </p:txBody>
      </p:sp>
      <p:sp>
        <p:nvSpPr>
          <p:cNvPr id="68" name="Text 66"/>
          <p:cNvSpPr/>
          <p:nvPr/>
        </p:nvSpPr>
        <p:spPr>
          <a:xfrm>
            <a:off x="9747504" y="4041648"/>
            <a:ext cx="186537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FPS on Genesys 2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40080" y="4983480"/>
            <a:ext cx="10908792" cy="960120"/>
          </a:xfrm>
          <a:prstGeom prst="roundRect">
            <a:avLst>
              <a:gd name="adj" fmla="val 8571"/>
            </a:avLst>
          </a:prstGeom>
          <a:solidFill>
            <a:srgbClr val="0F1A30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14400" y="4983480"/>
            <a:ext cx="10424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Near-lossless:  </a:t>
            </a:r>
            <a:pPr indent="0" marL="0">
              <a:buNone/>
            </a:pPr>
            <a:r>
              <a:rPr lang="en-US" sz="1550" b="1" dirty="0">
                <a:solidFill>
                  <a:srgbClr val="53D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FP32 37.94  →  INT8 37.62 mAP50-95</a:t>
            </a:r>
            <a:pPr indent="0" marL="0">
              <a:buNone/>
            </a:pPr>
            <a:r>
              <a:rPr lang="en-US" sz="155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(−0.32 pt).   No fine-tuning loops — a deterministic path from model to hardware.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5331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2996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0662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8328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5993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3659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1324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990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4321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1987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9652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47318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14984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82649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0315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7980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67665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135331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02996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270662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338328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05993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473659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541324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08990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676656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-2011680" y="-2011680"/>
            <a:ext cx="4754880" cy="4754880"/>
          </a:xfrm>
          <a:prstGeom prst="ellipse">
            <a:avLst/>
          </a:prstGeom>
          <a:solidFill>
            <a:srgbClr val="4F8BFF">
              <a:alpha val="1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326880" y="4206240"/>
            <a:ext cx="4937760" cy="4937760"/>
          </a:xfrm>
          <a:prstGeom prst="ellipse">
            <a:avLst/>
          </a:prstGeom>
          <a:solidFill>
            <a:srgbClr val="F5B544">
              <a:alpha val="1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F1A30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6437376"/>
            <a:ext cx="5486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SiliconYOLO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6437376"/>
            <a:ext cx="55138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Fixed-weight YOLOv10n · Kintex-7 (XC7K325T)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◆ </a:t>
            </a:r>
            <a:pPr algn="l" indent="0" marL="0">
              <a:buNone/>
            </a:pPr>
            <a:r>
              <a:rPr lang="en-US" sz="1300" b="1" spc="200" kern="0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607040" y="45720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Real-time detection, verified bit-exact</a:t>
            </a:r>
            <a:endParaRPr lang="en-US" sz="3600" dirty="0"/>
          </a:p>
        </p:txBody>
      </p:sp>
      <p:sp>
        <p:nvSpPr>
          <p:cNvPr id="40" name="Shape 38"/>
          <p:cNvSpPr/>
          <p:nvPr/>
        </p:nvSpPr>
        <p:spPr>
          <a:xfrm>
            <a:off x="640080" y="1965960"/>
            <a:ext cx="2606040" cy="1783080"/>
          </a:xfrm>
          <a:prstGeom prst="roundRect">
            <a:avLst>
              <a:gd name="adj" fmla="val 4615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2075688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~51</a:t>
            </a:r>
            <a:endParaRPr lang="en-US" sz="4400" dirty="0"/>
          </a:p>
        </p:txBody>
      </p:sp>
      <p:sp>
        <p:nvSpPr>
          <p:cNvPr id="42" name="Text 40"/>
          <p:cNvSpPr/>
          <p:nvPr/>
        </p:nvSpPr>
        <p:spPr>
          <a:xfrm>
            <a:off x="731520" y="2898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 @ 200 MHz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49808" y="3246120"/>
            <a:ext cx="23865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Kintex-7 · ~200 FPS as 28 nm ASIC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401568" y="1965960"/>
            <a:ext cx="2606040" cy="1783080"/>
          </a:xfrm>
          <a:prstGeom prst="roundRect">
            <a:avLst>
              <a:gd name="adj" fmla="val 4615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01568" y="2075688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3D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4400" dirty="0"/>
          </a:p>
        </p:txBody>
      </p:sp>
      <p:sp>
        <p:nvSpPr>
          <p:cNvPr id="46" name="Text 44"/>
          <p:cNvSpPr/>
          <p:nvPr/>
        </p:nvSpPr>
        <p:spPr>
          <a:xfrm>
            <a:off x="3493008" y="2898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DSP blocks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3511296" y="3246120"/>
            <a:ext cx="23865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CSD shift-add logic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163056" y="1965960"/>
            <a:ext cx="2606040" cy="1783080"/>
          </a:xfrm>
          <a:prstGeom prst="roundRect">
            <a:avLst>
              <a:gd name="adj" fmla="val 4615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63056" y="2075688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~38K</a:t>
            </a:r>
            <a:endParaRPr lang="en-US" sz="4400" dirty="0"/>
          </a:p>
        </p:txBody>
      </p:sp>
      <p:sp>
        <p:nvSpPr>
          <p:cNvPr id="50" name="Text 48"/>
          <p:cNvSpPr/>
          <p:nvPr/>
        </p:nvSpPr>
        <p:spPr>
          <a:xfrm>
            <a:off x="6254496" y="2898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LUTs (11.7%)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6272784" y="3246120"/>
            <a:ext cx="23865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~483 BRAM (57.5%)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924544" y="1965960"/>
            <a:ext cx="2624328" cy="1783080"/>
          </a:xfrm>
          <a:prstGeom prst="roundRect">
            <a:avLst>
              <a:gd name="adj" fmla="val 4615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924544" y="2075688"/>
            <a:ext cx="262432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~3.2 W</a:t>
            </a:r>
            <a:endParaRPr lang="en-US" sz="4400" dirty="0"/>
          </a:p>
        </p:txBody>
      </p:sp>
      <p:sp>
        <p:nvSpPr>
          <p:cNvPr id="54" name="Text 52"/>
          <p:cNvSpPr/>
          <p:nvPr/>
        </p:nvSpPr>
        <p:spPr>
          <a:xfrm>
            <a:off x="9015984" y="2898648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power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9034272" y="3246120"/>
            <a:ext cx="24048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~0.2 W as 28 nm ASIC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40080" y="3977640"/>
            <a:ext cx="5486400" cy="1920240"/>
          </a:xfrm>
          <a:prstGeom prst="roundRect">
            <a:avLst>
              <a:gd name="adj" fmla="val 4286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68680" y="4160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3D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BIT-EXACT VERIFICATION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868680" y="4526280"/>
            <a:ext cx="50749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datapath checked against software golden vectors.
</a:t>
            </a:r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53D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unit testbenches pass bit-exact</a:t>
            </a:r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(CSD MAC slice, SCE MAC array, requant, SiLU LUT). Top-level decoder honestly marked INCONCLUSIVE.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355080" y="3977640"/>
            <a:ext cx="5193792" cy="1920240"/>
          </a:xfrm>
          <a:prstGeom prst="roundRect">
            <a:avLst>
              <a:gd name="adj" fmla="val 4286"/>
            </a:avLst>
          </a:prstGeom>
          <a:solidFill>
            <a:srgbClr val="0F1A30"/>
          </a:solidFill>
          <a:ln w="12700">
            <a:solidFill>
              <a:srgbClr val="27365B"/>
            </a:solidFill>
            <a:prstDash val="solid"/>
          </a:ln>
        </p:spPr>
      </p:sp>
      <p:pic>
        <p:nvPicPr>
          <p:cNvPr id="60" name="Image 0" descr="C:\Users\light\AppData\Roaming\simular-unified-ui\SimularFiles\artifacts\pptx_build\d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92240" y="4114800"/>
            <a:ext cx="2331720" cy="1645920"/>
          </a:xfrm>
          <a:prstGeom prst="rect">
            <a:avLst/>
          </a:prstGeom>
        </p:spPr>
      </p:pic>
      <p:sp>
        <p:nvSpPr>
          <p:cNvPr id="61" name="Text 58"/>
          <p:cNvSpPr/>
          <p:nvPr/>
        </p:nvSpPr>
        <p:spPr>
          <a:xfrm>
            <a:off x="9006840" y="4297680"/>
            <a:ext cx="2423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fixed-point inference
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7FB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1024 CSD MACs · ~255 FPS/W
</a:t>
            </a:r>
            <a:pPr indent="0" marL="0">
              <a:lnSpc>
                <a:spcPct val="110000"/>
              </a:lnSpc>
              <a:buNone/>
            </a:pPr>
            <a:r>
              <a:rPr lang="en-US" sz="1350" i="1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to the RTL, frame for frame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5331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2996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0662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8328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5993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3659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1324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990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4321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1987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9652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47318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14984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82649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0315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7980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67665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135331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02996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270662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338328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05993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473659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541324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08990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676656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-2011680" y="-2011680"/>
            <a:ext cx="4754880" cy="4754880"/>
          </a:xfrm>
          <a:prstGeom prst="ellipse">
            <a:avLst/>
          </a:prstGeom>
          <a:solidFill>
            <a:srgbClr val="4F8BFF">
              <a:alpha val="1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326880" y="4206240"/>
            <a:ext cx="4937760" cy="4937760"/>
          </a:xfrm>
          <a:prstGeom prst="ellipse">
            <a:avLst/>
          </a:prstGeom>
          <a:solidFill>
            <a:srgbClr val="F5B544">
              <a:alpha val="1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F1A30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6437376"/>
            <a:ext cx="5486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SiliconYOLO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6437376"/>
            <a:ext cx="55138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estimates · docs/COST_COMPARISON.md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◆ </a:t>
            </a:r>
            <a:pPr algn="l" indent="0" marL="0">
              <a:buNone/>
            </a:pPr>
            <a:r>
              <a:rPr lang="en-US" sz="1300" b="1" spc="200" kern="0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COST &amp; EFFICIENCY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607040" y="45720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Weights as silicon — the economics</a:t>
            </a:r>
            <a:endParaRPr lang="en-US" sz="3600" dirty="0"/>
          </a:p>
        </p:txBody>
      </p:sp>
      <p:sp>
        <p:nvSpPr>
          <p:cNvPr id="40" name="Shape 38"/>
          <p:cNvSpPr/>
          <p:nvPr/>
        </p:nvSpPr>
        <p:spPr>
          <a:xfrm>
            <a:off x="640080" y="1920240"/>
            <a:ext cx="2606040" cy="1783080"/>
          </a:xfrm>
          <a:prstGeom prst="roundRect">
            <a:avLst>
              <a:gd name="adj" fmla="val 4615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2029968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~0.2 W</a:t>
            </a:r>
            <a:endParaRPr lang="en-US" sz="4400" dirty="0"/>
          </a:p>
        </p:txBody>
      </p:sp>
      <p:sp>
        <p:nvSpPr>
          <p:cNvPr id="42" name="Text 40"/>
          <p:cNvSpPr/>
          <p:nvPr/>
        </p:nvSpPr>
        <p:spPr>
          <a:xfrm>
            <a:off x="731520" y="2852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draw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49808" y="3200400"/>
            <a:ext cx="23865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15 W Jetson Orin Nano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401568" y="1920240"/>
            <a:ext cx="2606040" cy="1783080"/>
          </a:xfrm>
          <a:prstGeom prst="roundRect">
            <a:avLst>
              <a:gd name="adj" fmla="val 4615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01568" y="2029968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~$2</a:t>
            </a:r>
            <a:endParaRPr lang="en-US" sz="4400" dirty="0"/>
          </a:p>
        </p:txBody>
      </p:sp>
      <p:sp>
        <p:nvSpPr>
          <p:cNvPr id="46" name="Text 44"/>
          <p:cNvSpPr/>
          <p:nvPr/>
        </p:nvSpPr>
        <p:spPr>
          <a:xfrm>
            <a:off x="3493008" y="2852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chip @ 100k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3511296" y="3200400"/>
            <a:ext cx="23865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$249 Jetson · ~$2.5M NRE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163056" y="1920240"/>
            <a:ext cx="2606040" cy="1783080"/>
          </a:xfrm>
          <a:prstGeom prst="roundRect">
            <a:avLst>
              <a:gd name="adj" fmla="val 4615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63056" y="2029968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26×</a:t>
            </a:r>
            <a:endParaRPr lang="en-US" sz="4400" dirty="0"/>
          </a:p>
        </p:txBody>
      </p:sp>
      <p:sp>
        <p:nvSpPr>
          <p:cNvPr id="50" name="Text 48"/>
          <p:cNvSpPr/>
          <p:nvPr/>
        </p:nvSpPr>
        <p:spPr>
          <a:xfrm>
            <a:off x="6254496" y="2852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energy / frame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6272784" y="3200400"/>
            <a:ext cx="23865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73× vs GPU · 6× vs Hailo-8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924544" y="1920240"/>
            <a:ext cx="2624328" cy="1783080"/>
          </a:xfrm>
          <a:prstGeom prst="roundRect">
            <a:avLst>
              <a:gd name="adj" fmla="val 4615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924544" y="2029968"/>
            <a:ext cx="262432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~11×</a:t>
            </a:r>
            <a:endParaRPr lang="en-US" sz="4400" dirty="0"/>
          </a:p>
        </p:txBody>
      </p:sp>
      <p:sp>
        <p:nvSpPr>
          <p:cNvPr id="54" name="Text 52"/>
          <p:cNvSpPr/>
          <p:nvPr/>
        </p:nvSpPr>
        <p:spPr>
          <a:xfrm>
            <a:off x="9015984" y="2852928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3-yr TCO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9034272" y="3200400"/>
            <a:ext cx="24048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$2.78M vs $30.8M @100k 24/7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40080" y="3977640"/>
            <a:ext cx="5212080" cy="1920240"/>
          </a:xfrm>
          <a:prstGeom prst="roundRect">
            <a:avLst>
              <a:gd name="adj" fmla="val 4286"/>
            </a:avLst>
          </a:prstGeom>
          <a:solidFill>
            <a:srgbClr val="0F1A30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68680" y="41148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IT WINS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868680" y="4526280"/>
            <a:ext cx="484632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7FB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255 FPS/W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no weight SRAM / no DRAM  · 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53D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DSP
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5B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~37.6 mAP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deterministic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ms latency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every frame, no jitter</a:t>
            </a:r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netlist scales to 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7FB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~800 MHz / ~200 FPS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constant 255 FPS/W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035040" y="3977640"/>
            <a:ext cx="5513832" cy="1920240"/>
          </a:xfrm>
          <a:prstGeom prst="roundRect">
            <a:avLst>
              <a:gd name="adj" fmla="val 4286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pic>
        <p:nvPicPr>
          <p:cNvPr id="60" name="Picture 59" descr="tco_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4114800"/>
            <a:ext cx="5239512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5331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2996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0662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8328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5993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3659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1324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990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4321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1987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9652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47318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14984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82649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0315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7980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67665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135331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02996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270662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338328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05993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473659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541324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08990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676656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-2011680" y="-2011680"/>
            <a:ext cx="4754880" cy="4754880"/>
          </a:xfrm>
          <a:prstGeom prst="ellipse">
            <a:avLst/>
          </a:prstGeom>
          <a:solidFill>
            <a:srgbClr val="4F8BFF">
              <a:alpha val="1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326880" y="4206240"/>
            <a:ext cx="4937760" cy="4937760"/>
          </a:xfrm>
          <a:prstGeom prst="ellipse">
            <a:avLst/>
          </a:prstGeom>
          <a:solidFill>
            <a:srgbClr val="F5B544">
              <a:alpha val="1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F1A30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6437376"/>
            <a:ext cx="5486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SiliconYOLO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6437376"/>
            <a:ext cx="55138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Fixed-weight YOLOv10n · Kintex-7 (XC7K325T)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◆ </a:t>
            </a:r>
            <a:pPr algn="l" indent="0" marL="0">
              <a:buNone/>
            </a:pPr>
            <a:r>
              <a:rPr lang="en-US" sz="1300" b="1" spc="200" kern="0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BET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607040" y="45720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 bet against hard-coded LLMs</a:t>
            </a:r>
            <a:endParaRPr lang="en-US" sz="3600" dirty="0"/>
          </a:p>
        </p:txBody>
      </p:sp>
      <p:sp>
        <p:nvSpPr>
          <p:cNvPr id="40" name="Shape 38"/>
          <p:cNvSpPr/>
          <p:nvPr/>
        </p:nvSpPr>
        <p:spPr>
          <a:xfrm>
            <a:off x="640080" y="2011680"/>
            <a:ext cx="5349240" cy="3886200"/>
          </a:xfrm>
          <a:prstGeom prst="roundRect">
            <a:avLst>
              <a:gd name="adj" fmla="val 2118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68680" y="21945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B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COMPARABLE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68680" y="2542032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Taalas</a:t>
            </a:r>
            <a:endParaRPr lang="en-US" sz="3000" dirty="0"/>
          </a:p>
        </p:txBody>
      </p:sp>
      <p:sp>
        <p:nvSpPr>
          <p:cNvPr id="43" name="Text 41"/>
          <p:cNvSpPr/>
          <p:nvPr/>
        </p:nvSpPr>
        <p:spPr>
          <a:xfrm>
            <a:off x="868680" y="3154680"/>
            <a:ext cx="49377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5B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$219M raised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hard-code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language models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silicon.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Proves the thesis: freezing a model into hardware is real, fundable, and powerful.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172200" y="2011680"/>
            <a:ext cx="5376672" cy="3886200"/>
          </a:xfrm>
          <a:prstGeom prst="roundRect">
            <a:avLst>
              <a:gd name="adj" fmla="val 2118"/>
            </a:avLst>
          </a:prstGeom>
          <a:solidFill>
            <a:srgbClr val="0F1A30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172200" y="2011680"/>
            <a:ext cx="109728" cy="3886200"/>
          </a:xfrm>
          <a:prstGeom prst="roundRect">
            <a:avLst>
              <a:gd name="adj" fmla="val 41667"/>
            </a:avLst>
          </a:prstGeom>
          <a:solidFill>
            <a:srgbClr val="F5B544"/>
          </a:solidFill>
          <a:ln/>
        </p:spPr>
      </p:sp>
      <p:sp>
        <p:nvSpPr>
          <p:cNvPr id="46" name="Text 44"/>
          <p:cNvSpPr/>
          <p:nvPr/>
        </p:nvSpPr>
        <p:spPr>
          <a:xfrm>
            <a:off x="6446520" y="21945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OUR BET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6446520" y="2542032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 perception</a:t>
            </a:r>
            <a:endParaRPr lang="en-US" sz="3000" dirty="0"/>
          </a:p>
        </p:txBody>
      </p:sp>
      <p:sp>
        <p:nvSpPr>
          <p:cNvPr id="48" name="Text 46"/>
          <p:cNvSpPr/>
          <p:nvPr/>
        </p:nvSpPr>
        <p:spPr>
          <a:xfrm>
            <a:off x="6446520" y="3154680"/>
            <a:ext cx="49377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edge opportunity isn't language — it's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vision.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Billions of cameras need to see in milliwatts, privately, on-device. Non-LLM perception is the larger, faster-growing layer — and almost nobody is freezing it into silicon.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5331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2996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0662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8328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5993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3659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1324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990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4321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1987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9652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47318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14984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82649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0315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7980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67665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135331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02996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270662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338328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05993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473659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541324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08990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676656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-2011680" y="-2011680"/>
            <a:ext cx="4754880" cy="4754880"/>
          </a:xfrm>
          <a:prstGeom prst="ellipse">
            <a:avLst/>
          </a:prstGeom>
          <a:solidFill>
            <a:srgbClr val="4F8BFF">
              <a:alpha val="1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326880" y="4206240"/>
            <a:ext cx="4937760" cy="4937760"/>
          </a:xfrm>
          <a:prstGeom prst="ellipse">
            <a:avLst/>
          </a:prstGeom>
          <a:solidFill>
            <a:srgbClr val="F5B544">
              <a:alpha val="1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F1A30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6437376"/>
            <a:ext cx="5486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SiliconYOLO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6437376"/>
            <a:ext cx="55138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Fixed-weight YOLOv10n · Kintex-7 (XC7K325T)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◆ </a:t>
            </a:r>
            <a:pPr algn="l" indent="0" marL="0">
              <a:buNone/>
            </a:pPr>
            <a:r>
              <a:rPr lang="en-US" sz="1300" b="1" spc="200" kern="0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MARKET &amp; INTEGRATION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607040" y="45720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bigger TAM — and a drop-in block</a:t>
            </a:r>
            <a:endParaRPr lang="en-US" sz="3600" dirty="0"/>
          </a:p>
        </p:txBody>
      </p:sp>
      <p:sp>
        <p:nvSpPr>
          <p:cNvPr id="40" name="Shape 38"/>
          <p:cNvSpPr/>
          <p:nvPr/>
        </p:nvSpPr>
        <p:spPr>
          <a:xfrm>
            <a:off x="640080" y="1965960"/>
            <a:ext cx="5349240" cy="2331720"/>
          </a:xfrm>
          <a:prstGeom prst="roundRect">
            <a:avLst>
              <a:gd name="adj" fmla="val 3529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68680" y="212140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FB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MARKET (TAM)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68680" y="246888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7FB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Non-LLM edge AI
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~$20B (2024) → $100B+ by 2030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5B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~28% CAGR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868680" y="3429000"/>
            <a:ext cx="4937760" cy="0"/>
          </a:xfrm>
          <a:prstGeom prst="line">
            <a:avLst/>
          </a:prstGeom>
          <a:noFill/>
          <a:ln w="12700">
            <a:solidFill>
              <a:srgbClr val="27365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8680" y="35661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LLM: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~$8B → ~$20B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(~15–18% CAGR)</a:t>
            </a:r>
            <a:pPr indent="0" marL="0">
              <a:lnSpc>
                <a:spcPct val="110000"/>
              </a:lnSpc>
              <a:buNone/>
            </a:pP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53D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perception is a ~5× larger, faster-growing TAM.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6172200" y="1965960"/>
            <a:ext cx="5376672" cy="2331720"/>
          </a:xfrm>
          <a:prstGeom prst="roundRect">
            <a:avLst>
              <a:gd name="adj" fmla="val 3529"/>
            </a:avLst>
          </a:prstGeom>
          <a:solidFill>
            <a:srgbClr val="0F1A30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0800" y="212140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MODULAR BY DESIGN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400800" y="2542032"/>
            <a:ext cx="4937760" cy="713232"/>
          </a:xfrm>
          <a:prstGeom prst="roundRect">
            <a:avLst>
              <a:gd name="adj" fmla="val 7692"/>
            </a:avLst>
          </a:prstGeom>
          <a:solidFill>
            <a:srgbClr val="13203A"/>
          </a:solidFill>
          <a:ln w="15875">
            <a:solidFill>
              <a:srgbClr val="4F8B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583680" y="2542032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AXI4-Lite  </a:t>
            </a:r>
            <a:pPr indent="0" marL="0">
              <a:buNone/>
            </a:pPr>
            <a:r>
              <a:rPr lang="en-US" sz="145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control / configuration</a:t>
            </a:r>
            <a:endParaRPr lang="en-US" sz="1450" dirty="0"/>
          </a:p>
        </p:txBody>
      </p:sp>
      <p:sp>
        <p:nvSpPr>
          <p:cNvPr id="49" name="Shape 47"/>
          <p:cNvSpPr/>
          <p:nvPr/>
        </p:nvSpPr>
        <p:spPr>
          <a:xfrm>
            <a:off x="6400800" y="3346704"/>
            <a:ext cx="4937760" cy="713232"/>
          </a:xfrm>
          <a:prstGeom prst="roundRect">
            <a:avLst>
              <a:gd name="adj" fmla="val 7692"/>
            </a:avLst>
          </a:prstGeom>
          <a:solidFill>
            <a:srgbClr val="13203A"/>
          </a:solidFill>
          <a:ln w="15875">
            <a:solidFill>
              <a:srgbClr val="F5B54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83680" y="3346704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AXI4-Stream  </a:t>
            </a:r>
            <a:pPr indent="0" marL="0">
              <a:buNone/>
            </a:pPr>
            <a:r>
              <a:rPr lang="en-US" sz="145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pixels in / detections out</a:t>
            </a:r>
            <a:endParaRPr lang="en-US" sz="1450" dirty="0"/>
          </a:p>
        </p:txBody>
      </p:sp>
      <p:sp>
        <p:nvSpPr>
          <p:cNvPr id="51" name="Shape 49"/>
          <p:cNvSpPr/>
          <p:nvPr/>
        </p:nvSpPr>
        <p:spPr>
          <a:xfrm>
            <a:off x="640080" y="4526280"/>
            <a:ext cx="10908792" cy="1371600"/>
          </a:xfrm>
          <a:prstGeom prst="roundRect">
            <a:avLst>
              <a:gd name="adj" fmla="val 6000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68680" y="4663440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Drops straight into any SoC</a:t>
            </a:r>
            <a:endParaRPr lang="en-US" sz="1800" dirty="0"/>
          </a:p>
        </p:txBody>
      </p:sp>
      <p:sp>
        <p:nvSpPr>
          <p:cNvPr id="53" name="Text 51"/>
          <p:cNvSpPr/>
          <p:nvPr/>
        </p:nvSpPr>
        <p:spPr>
          <a:xfrm>
            <a:off x="868680" y="507492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Sits next to a CPU, an image-signal processor, or a RISC-V core — no glue logic. The next wave of edge AI won't run on smaller software; it'll be the model itself, etched in silicon.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5331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2996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0662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8328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5993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3659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1324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990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4321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1987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9652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47318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14984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82649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0315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7980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67665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135331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02996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270662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338328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05993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473659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541324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08990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676656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-2011680" y="-2011680"/>
            <a:ext cx="4754880" cy="4754880"/>
          </a:xfrm>
          <a:prstGeom prst="ellipse">
            <a:avLst/>
          </a:prstGeom>
          <a:solidFill>
            <a:srgbClr val="4F8BFF">
              <a:alpha val="1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326880" y="4206240"/>
            <a:ext cx="4937760" cy="4937760"/>
          </a:xfrm>
          <a:prstGeom prst="ellipse">
            <a:avLst/>
          </a:prstGeom>
          <a:solidFill>
            <a:srgbClr val="F5B544">
              <a:alpha val="1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F1A30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6437376"/>
            <a:ext cx="5486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SiliconYOLO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6437376"/>
            <a:ext cx="55138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github.com/kejiwuxian/SiliconYOLO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0080" y="13716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Two AI agents designed AI silicon —</a:t>
            </a:r>
            <a:endParaRPr lang="en-US" sz="3400" dirty="0"/>
          </a:p>
        </p:txBody>
      </p:sp>
      <p:sp>
        <p:nvSpPr>
          <p:cNvPr id="38" name="Text 36"/>
          <p:cNvSpPr/>
          <p:nvPr/>
        </p:nvSpPr>
        <p:spPr>
          <a:xfrm>
            <a:off x="640080" y="20574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we kept them honest.</a:t>
            </a:r>
            <a:endParaRPr lang="en-US" sz="3400" dirty="0"/>
          </a:p>
        </p:txBody>
      </p:sp>
      <p:sp>
        <p:nvSpPr>
          <p:cNvPr id="39" name="Shape 37"/>
          <p:cNvSpPr/>
          <p:nvPr/>
        </p:nvSpPr>
        <p:spPr>
          <a:xfrm>
            <a:off x="640080" y="3200400"/>
            <a:ext cx="3520440" cy="2103120"/>
          </a:xfrm>
          <a:prstGeom prst="roundRect">
            <a:avLst>
              <a:gd name="adj" fmla="val 3913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0080" y="3200400"/>
            <a:ext cx="3520440" cy="91440"/>
          </a:xfrm>
          <a:prstGeom prst="rect">
            <a:avLst/>
          </a:prstGeom>
          <a:solidFill>
            <a:srgbClr val="4F8BFF"/>
          </a:solidFill>
          <a:ln/>
        </p:spPr>
      </p:sp>
      <p:sp>
        <p:nvSpPr>
          <p:cNvPr id="41" name="Text 39"/>
          <p:cNvSpPr/>
          <p:nvPr/>
        </p:nvSpPr>
        <p:spPr>
          <a:xfrm>
            <a:off x="868680" y="340156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Code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868680" y="3858768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8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Software track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868680" y="4224528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pretrained → INT8 PTQ → freeze · golden vectors</a:t>
            </a:r>
            <a:endParaRPr lang="en-US" sz="1350" dirty="0"/>
          </a:p>
        </p:txBody>
      </p:sp>
      <p:sp>
        <p:nvSpPr>
          <p:cNvPr id="44" name="Shape 42"/>
          <p:cNvSpPr/>
          <p:nvPr/>
        </p:nvSpPr>
        <p:spPr>
          <a:xfrm>
            <a:off x="4370832" y="3200400"/>
            <a:ext cx="3520440" cy="2103120"/>
          </a:xfrm>
          <a:prstGeom prst="roundRect">
            <a:avLst>
              <a:gd name="adj" fmla="val 3913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70832" y="3200400"/>
            <a:ext cx="3520440" cy="91440"/>
          </a:xfrm>
          <a:prstGeom prst="rect">
            <a:avLst/>
          </a:prstGeom>
          <a:solidFill>
            <a:srgbClr val="F5B544"/>
          </a:solidFill>
          <a:ln/>
        </p:spPr>
      </p:sp>
      <p:sp>
        <p:nvSpPr>
          <p:cNvPr id="46" name="Text 44"/>
          <p:cNvSpPr/>
          <p:nvPr/>
        </p:nvSpPr>
        <p:spPr>
          <a:xfrm>
            <a:off x="4599432" y="340156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Cognichip</a:t>
            </a:r>
            <a:endParaRPr lang="en-US" sz="2000" dirty="0"/>
          </a:p>
        </p:txBody>
      </p:sp>
      <p:sp>
        <p:nvSpPr>
          <p:cNvPr id="47" name="Text 45"/>
          <p:cNvSpPr/>
          <p:nvPr/>
        </p:nvSpPr>
        <p:spPr>
          <a:xfrm>
            <a:off x="4599432" y="3858768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Hardware track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599432" y="4224528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→ CSD RTL → Kintex-7 synthesis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8101584" y="3200400"/>
            <a:ext cx="3520440" cy="2103120"/>
          </a:xfrm>
          <a:prstGeom prst="roundRect">
            <a:avLst>
              <a:gd name="adj" fmla="val 3913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101584" y="3200400"/>
            <a:ext cx="3520440" cy="91440"/>
          </a:xfrm>
          <a:prstGeom prst="rect">
            <a:avLst/>
          </a:prstGeom>
          <a:solidFill>
            <a:srgbClr val="7FB2FF"/>
          </a:solidFill>
          <a:ln/>
        </p:spPr>
      </p:sp>
      <p:sp>
        <p:nvSpPr>
          <p:cNvPr id="51" name="Text 49"/>
          <p:cNvSpPr/>
          <p:nvPr/>
        </p:nvSpPr>
        <p:spPr>
          <a:xfrm>
            <a:off x="8330184" y="340156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Simular Sai</a:t>
            </a:r>
            <a:endParaRPr lang="en-US" sz="2000" dirty="0"/>
          </a:p>
        </p:txBody>
      </p:sp>
      <p:sp>
        <p:nvSpPr>
          <p:cNvPr id="52" name="Text 50"/>
          <p:cNvSpPr/>
          <p:nvPr/>
        </p:nvSpPr>
        <p:spPr>
          <a:xfrm>
            <a:off x="8330184" y="3858768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Orchestration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8330184" y="4224528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both agents · generated the demo video</a:t>
            </a:r>
            <a:endParaRPr lang="en-US" sz="1350" dirty="0"/>
          </a:p>
        </p:txBody>
      </p:sp>
      <p:sp>
        <p:nvSpPr>
          <p:cNvPr id="54" name="Text 52"/>
          <p:cNvSpPr/>
          <p:nvPr/>
        </p:nvSpPr>
        <p:spPr>
          <a:xfrm>
            <a:off x="640080" y="55321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7FB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SiliconYOLO  ·  the model itself, etched in silicon — a drop-in vision brain for the next billion devices.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ola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2026-06-21T17:19:27Z</dcterms:created>
  <dcterms:modified xsi:type="dcterms:W3CDTF">2026-06-21T17:19:27Z</dcterms:modified>
</cp:coreProperties>
</file>