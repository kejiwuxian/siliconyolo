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AI Hackathon 2026 (Cal Hacks)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18745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7200" dirty="0"/>
          </a:p>
        </p:txBody>
      </p:sp>
      <p:sp>
        <p:nvSpPr>
          <p:cNvPr id="38" name="Text 36"/>
          <p:cNvSpPr/>
          <p:nvPr/>
        </p:nvSpPr>
        <p:spPr>
          <a:xfrm>
            <a:off x="658368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froze a neural network </a:t>
            </a:r>
            <a:pPr algn="l" indent="0" marL="0">
              <a:buNone/>
            </a:pPr>
            <a:r>
              <a:rPr lang="en-US" sz="30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silicon.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658368" y="38862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YOLOv10n detector with its weights hard-wired into multiplier-less logic — real-time object detection at the milliwatt scale.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58368" y="5029200"/>
            <a:ext cx="1248156" cy="502920"/>
          </a:xfrm>
          <a:prstGeom prst="roundRect">
            <a:avLst>
              <a:gd name="adj" fmla="val 49091"/>
            </a:avLst>
          </a:prstGeom>
          <a:solidFill>
            <a:srgbClr val="13203A"/>
          </a:solidFill>
          <a:ln w="15875">
            <a:solidFill>
              <a:srgbClr val="4F8B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029200"/>
            <a:ext cx="12481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~51 FPS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135124" y="5029200"/>
            <a:ext cx="1001268" cy="502920"/>
          </a:xfrm>
          <a:prstGeom prst="roundRect">
            <a:avLst>
              <a:gd name="adj" fmla="val 49091"/>
            </a:avLst>
          </a:prstGeom>
          <a:solidFill>
            <a:srgbClr val="13203A"/>
          </a:solidFill>
          <a:ln w="15875">
            <a:solidFill>
              <a:srgbClr val="F5B5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35124" y="5029200"/>
            <a:ext cx="10012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DSP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364992" y="5029200"/>
            <a:ext cx="1124712" cy="502920"/>
          </a:xfrm>
          <a:prstGeom prst="roundRect">
            <a:avLst>
              <a:gd name="adj" fmla="val 49091"/>
            </a:avLst>
          </a:prstGeom>
          <a:solidFill>
            <a:srgbClr val="13203A"/>
          </a:solidFill>
          <a:ln w="15875">
            <a:solidFill>
              <a:srgbClr val="4F8B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5029200"/>
            <a:ext cx="1124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~3.2 W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718304" y="5029200"/>
            <a:ext cx="2359152" cy="502920"/>
          </a:xfrm>
          <a:prstGeom prst="roundRect">
            <a:avLst>
              <a:gd name="adj" fmla="val 49091"/>
            </a:avLst>
          </a:prstGeom>
          <a:solidFill>
            <a:srgbClr val="13203A"/>
          </a:solidFill>
          <a:ln w="15875">
            <a:solidFill>
              <a:srgbClr val="F5B5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5029200"/>
            <a:ext cx="235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· bit-exact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8368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agents · one chip · orchestrated by Simular Sai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Fixed-weight YOLOv10n · Kintex-7 (XC7K325T)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algn="l" indent="0" marL="0">
              <a:buNone/>
            </a:pPr>
            <a:r>
              <a:rPr lang="en-US" sz="1300" b="1" spc="200" kern="0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607040" y="457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AI is stuck between a rock and the cloud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640080" y="210312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" y="2377440"/>
            <a:ext cx="822960" cy="822960"/>
          </a:xfrm>
          <a:prstGeom prst="ellipse">
            <a:avLst/>
          </a:prstGeom>
          <a:solidFill>
            <a:srgbClr val="0F1A30"/>
          </a:solidFill>
          <a:ln w="15875">
            <a:solidFill>
              <a:srgbClr val="F5B5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91440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Power-hungry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914400" y="38862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and SoCs burn watts. Battery-powered vision is a non-starter at 15 W.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370832" y="210312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90872" y="2377440"/>
            <a:ext cx="822960" cy="822960"/>
          </a:xfrm>
          <a:prstGeom prst="ellipse">
            <a:avLst/>
          </a:prstGeom>
          <a:solidFill>
            <a:srgbClr val="0F1A30"/>
          </a:solidFill>
          <a:ln w="15875">
            <a:solidFill>
              <a:srgbClr val="F5B5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0872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4645152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Cloud-dependent</a:t>
            </a:r>
            <a:endParaRPr lang="en-US" sz="1900" dirty="0"/>
          </a:p>
        </p:txBody>
      </p:sp>
      <p:sp>
        <p:nvSpPr>
          <p:cNvPr id="49" name="Text 47"/>
          <p:cNvSpPr/>
          <p:nvPr/>
        </p:nvSpPr>
        <p:spPr>
          <a:xfrm>
            <a:off x="4645152" y="38862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Round-trips add latency and cost — and your pixels leave the device.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101584" y="2103120"/>
            <a:ext cx="3520440" cy="2926080"/>
          </a:xfrm>
          <a:prstGeom prst="roundRect">
            <a:avLst>
              <a:gd name="adj" fmla="val 2813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21624" y="2377440"/>
            <a:ext cx="822960" cy="822960"/>
          </a:xfrm>
          <a:prstGeom prst="ellipse">
            <a:avLst/>
          </a:prstGeom>
          <a:solidFill>
            <a:srgbClr val="0F1A30"/>
          </a:solidFill>
          <a:ln w="15875">
            <a:solidFill>
              <a:srgbClr val="F5B5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21624" y="2377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8375904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Expensive at scale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8375904" y="38862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silicon + 3-year energy bills dominate fleet economics.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if the model didn't need a processor at all — because the model IS the chip?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Fixed-weight YOLOv10n · Kintex-7 (XC7K325T)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algn="l" indent="0" marL="0">
              <a:buNone/>
            </a:pPr>
            <a:r>
              <a:rPr lang="en-US" sz="1300" b="1" spc="200" kern="0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607040" y="457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Freeze the weights into the silicon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640080" y="18288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network is just a fixed set of numbers. So we bake those numbers directly into hardware — every weight becomes constant-coefficient logic, not a value fetched from memory.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40080" y="3429000"/>
            <a:ext cx="6400800" cy="731520"/>
          </a:xfrm>
          <a:prstGeom prst="roundRect">
            <a:avLst>
              <a:gd name="adj" fmla="val 11250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34290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3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280160" y="342900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weight SRAM, no DRAM  </a:t>
            </a:r>
            <a:pPr indent="0" marL="0"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weights live in the gates themselves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640080" y="4270248"/>
            <a:ext cx="6400800" cy="731520"/>
          </a:xfrm>
          <a:prstGeom prst="roundRect">
            <a:avLst>
              <a:gd name="adj" fmla="val 11250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270248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3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280160" y="427024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DSP blocks  </a:t>
            </a:r>
            <a:pPr indent="0" marL="0"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multiplies become CSD shift-add logic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640080" y="5111496"/>
            <a:ext cx="6400800" cy="731520"/>
          </a:xfrm>
          <a:prstGeom prst="roundRect">
            <a:avLst>
              <a:gd name="adj" fmla="val 11250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111496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3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280160" y="5111496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latency  </a:t>
            </a:r>
            <a:pPr indent="0" marL="0"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pure feed-forward pipeline, every frame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7360920" y="1828800"/>
            <a:ext cx="4206240" cy="4023360"/>
          </a:xfrm>
          <a:prstGeom prst="roundRect">
            <a:avLst>
              <a:gd name="adj" fmla="val 2045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6092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= THE COMPUTER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635240" y="2606040"/>
            <a:ext cx="3657600" cy="822960"/>
          </a:xfrm>
          <a:prstGeom prst="roundRect">
            <a:avLst>
              <a:gd name="adj" fmla="val 7778"/>
            </a:avLst>
          </a:prstGeom>
          <a:solidFill>
            <a:srgbClr val="13203A"/>
          </a:solidFill>
          <a:ln w="15875">
            <a:solidFill>
              <a:srgbClr val="4F8B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2606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 </a:t>
            </a:r>
            <a:pPr indent="0" marL="0"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as logic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635240" y="339242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D0"/>
                </a:solidFill>
              </a:rPr>
              <a:t>▼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635240" y="3593592"/>
            <a:ext cx="3657600" cy="822960"/>
          </a:xfrm>
          <a:prstGeom prst="roundRect">
            <a:avLst>
              <a:gd name="adj" fmla="val 7778"/>
            </a:avLst>
          </a:prstGeom>
          <a:solidFill>
            <a:srgbClr val="13203A"/>
          </a:solidFill>
          <a:ln w="15875">
            <a:solidFill>
              <a:srgbClr val="7FB2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72400" y="359359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datapath  </a:t>
            </a:r>
            <a:pPr indent="0" marL="0"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 MAC array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635240" y="43799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D0"/>
                </a:solidFill>
              </a:rPr>
              <a:t>▼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635240" y="4581144"/>
            <a:ext cx="3657600" cy="822960"/>
          </a:xfrm>
          <a:prstGeom prst="roundRect">
            <a:avLst>
              <a:gd name="adj" fmla="val 7778"/>
            </a:avLst>
          </a:prstGeom>
          <a:solidFill>
            <a:srgbClr val="13203A"/>
          </a:solidFill>
          <a:ln w="15875">
            <a:solidFill>
              <a:srgbClr val="F5B5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0" y="4581144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in →  </a:t>
            </a:r>
            <a:pPr indent="0" marL="0"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out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Fixed-weight YOLOv10n · Kintex-7 (XC7K325T)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algn="l" indent="0" marL="0">
              <a:buNone/>
            </a:pPr>
            <a:r>
              <a:rPr lang="en-US" sz="1300" b="1" spc="200" kern="0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CHOICE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607040" y="457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YOLOv10n: a whole block vanishes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640080" y="19202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2103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OLDER DETECTORS (YOLOv5/v8)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8680" y="2514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→ Neck → Head
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Non-Max Suppression (NMS)
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= sorting + IoU loops = an awkward, data-dependent block that fights an FPGA pipeline.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4160520"/>
            <a:ext cx="4937760" cy="0"/>
          </a:xfrm>
          <a:prstGeom prst="line">
            <a:avLst/>
          </a:prstGeom>
          <a:noFill/>
          <a:ln w="12700">
            <a:solidFill>
              <a:srgbClr val="2736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4297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YOLOv10n — NMS-FREE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68680" y="466344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dual-label training removes NMS entirely. What's left is a clean feed-forward graph that maps beautifully onto silicon.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355080" y="192024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21031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M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644652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9052560" y="1920240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52560" y="21031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6.7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9144000" y="2971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GFLOPs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355080" y="3913632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409651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NMS-free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6446520" y="49651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052560" y="3913632"/>
            <a:ext cx="2514600" cy="1783080"/>
          </a:xfrm>
          <a:prstGeom prst="roundRect">
            <a:avLst>
              <a:gd name="adj" fmla="val 4615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52560" y="409651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640×640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9144000" y="496519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80-class COCO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Fixed-weight YOLOv10n · Kintex-7 (XC7K325T)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algn="l" indent="0" marL="0">
              <a:buNone/>
            </a:pPr>
            <a:r>
              <a:rPr lang="en-US" sz="1300" b="1" spc="200" kern="0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607040" y="457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pretrained model to metal — no retraining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640080" y="2468880"/>
            <a:ext cx="2084832" cy="2194560"/>
          </a:xfrm>
          <a:prstGeom prst="roundRect">
            <a:avLst>
              <a:gd name="adj" fmla="val 3947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98448" y="2724912"/>
            <a:ext cx="768096" cy="768096"/>
          </a:xfrm>
          <a:prstGeom prst="ellipse">
            <a:avLst/>
          </a:prstGeom>
          <a:solidFill>
            <a:srgbClr val="0F1A30"/>
          </a:solidFill>
          <a:ln w="19050">
            <a:solidFill>
              <a:srgbClr val="4F8B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98448" y="27249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31520" y="36118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Pretrained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749808" y="4041648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YOLOv10n COCO weights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688336" y="2468880"/>
            <a:ext cx="2377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544"/>
                </a:solidFill>
              </a:rPr>
              <a:t>→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2889504" y="2468880"/>
            <a:ext cx="2084832" cy="2194560"/>
          </a:xfrm>
          <a:prstGeom prst="roundRect">
            <a:avLst>
              <a:gd name="adj" fmla="val 3947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47872" y="2724912"/>
            <a:ext cx="768096" cy="768096"/>
          </a:xfrm>
          <a:prstGeom prst="ellipse">
            <a:avLst/>
          </a:prstGeom>
          <a:solidFill>
            <a:srgbClr val="0F1A30"/>
          </a:solidFill>
          <a:ln w="19050">
            <a:solidFill>
              <a:srgbClr val="7FB2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47872" y="27249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2980944" y="36118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PTQ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2999232" y="4041648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937760" y="2468880"/>
            <a:ext cx="2377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544"/>
                </a:solidFill>
              </a:rPr>
              <a:t>→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138928" y="2468880"/>
            <a:ext cx="2084832" cy="2194560"/>
          </a:xfrm>
          <a:prstGeom prst="roundRect">
            <a:avLst>
              <a:gd name="adj" fmla="val 3947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97296" y="2724912"/>
            <a:ext cx="768096" cy="768096"/>
          </a:xfrm>
          <a:prstGeom prst="ellipse">
            <a:avLst/>
          </a:prstGeom>
          <a:solidFill>
            <a:srgbClr val="0F1A30"/>
          </a:solidFill>
          <a:ln w="19050">
            <a:solidFill>
              <a:srgbClr val="F5B5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97296" y="27249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5230368" y="36118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Freeze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5248656" y="4041648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weight contract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187184" y="2468880"/>
            <a:ext cx="2377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544"/>
                </a:solidFill>
              </a:rPr>
              <a:t>→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7388352" y="2468880"/>
            <a:ext cx="2084832" cy="2194560"/>
          </a:xfrm>
          <a:prstGeom prst="roundRect">
            <a:avLst>
              <a:gd name="adj" fmla="val 3947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46720" y="2724912"/>
            <a:ext cx="768096" cy="768096"/>
          </a:xfrm>
          <a:prstGeom prst="ellipse">
            <a:avLst/>
          </a:prstGeom>
          <a:solidFill>
            <a:srgbClr val="0F1A30"/>
          </a:solidFill>
          <a:ln w="19050">
            <a:solidFill>
              <a:srgbClr val="7FB2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46720" y="27249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7479792" y="36118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CSD RTL</a:t>
            </a:r>
            <a:endParaRPr lang="en-US" sz="1700" dirty="0"/>
          </a:p>
        </p:txBody>
      </p:sp>
      <p:sp>
        <p:nvSpPr>
          <p:cNvPr id="62" name="Text 60"/>
          <p:cNvSpPr/>
          <p:nvPr/>
        </p:nvSpPr>
        <p:spPr>
          <a:xfrm>
            <a:off x="7498080" y="4041648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Cognichip generates HW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9436608" y="2468880"/>
            <a:ext cx="2377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544"/>
                </a:solidFill>
              </a:rPr>
              <a:t>→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9637776" y="2468880"/>
            <a:ext cx="2084832" cy="2194560"/>
          </a:xfrm>
          <a:prstGeom prst="roundRect">
            <a:avLst>
              <a:gd name="adj" fmla="val 3947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296144" y="2724912"/>
            <a:ext cx="768096" cy="768096"/>
          </a:xfrm>
          <a:prstGeom prst="ellipse">
            <a:avLst/>
          </a:prstGeom>
          <a:solidFill>
            <a:srgbClr val="0F1A30"/>
          </a:solidFill>
          <a:ln w="19050">
            <a:solidFill>
              <a:srgbClr val="53D0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96144" y="272491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3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67" name="Text 65"/>
          <p:cNvSpPr/>
          <p:nvPr/>
        </p:nvSpPr>
        <p:spPr>
          <a:xfrm>
            <a:off x="9729216" y="361188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Kintex-7</a:t>
            </a:r>
            <a:endParaRPr lang="en-US" sz="1700" dirty="0"/>
          </a:p>
        </p:txBody>
      </p:sp>
      <p:sp>
        <p:nvSpPr>
          <p:cNvPr id="68" name="Text 66"/>
          <p:cNvSpPr/>
          <p:nvPr/>
        </p:nvSpPr>
        <p:spPr>
          <a:xfrm>
            <a:off x="9747504" y="4041648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FPS on Genesys 2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8571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4400" y="49834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Near-lossless:  </a:t>
            </a:r>
            <a:pPr indent="0" marL="0">
              <a:buNone/>
            </a:pPr>
            <a:r>
              <a:rPr lang="en-US" sz="1550" b="1" dirty="0">
                <a:solidFill>
                  <a:srgbClr val="53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37.94  →  INT8 37.62 mAP50-95</a:t>
            </a:r>
            <a:pPr indent="0" marL="0">
              <a:buNone/>
            </a:pPr>
            <a:r>
              <a:rPr lang="en-US" sz="15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(−0.32 pt).   No fine-tuning loops — a deterministic path from model to hardware.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Fixed-weight YOLOv10n · Kintex-7 (XC7K325T)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algn="l" indent="0" marL="0">
              <a:buNone/>
            </a:pPr>
            <a:r>
              <a:rPr lang="en-US" sz="1300" b="1" spc="200" kern="0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607040" y="457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 detection, verified bit-exact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640080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207568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~51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731520" y="2898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@ 200 MHz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9808" y="324612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Kintex-7 XC7K325T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01568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1568" y="207568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3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3493008" y="2898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blocks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11296" y="324612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CSD shift-add logic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63056" y="196596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207568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~38K</a:t>
            </a:r>
            <a:endParaRPr lang="en-US" sz="4400" dirty="0"/>
          </a:p>
        </p:txBody>
      </p:sp>
      <p:sp>
        <p:nvSpPr>
          <p:cNvPr id="50" name="Text 48"/>
          <p:cNvSpPr/>
          <p:nvPr/>
        </p:nvSpPr>
        <p:spPr>
          <a:xfrm>
            <a:off x="6254496" y="2898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LUTs (11.7%)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72784" y="324612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~483 BRAM (57.5%)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924544" y="1965960"/>
            <a:ext cx="2624328" cy="1783080"/>
          </a:xfrm>
          <a:prstGeom prst="roundRect">
            <a:avLst>
              <a:gd name="adj" fmla="val 4615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4544" y="2075688"/>
            <a:ext cx="2624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~3.2 W</a:t>
            </a:r>
            <a:endParaRPr lang="en-US" sz="4400" dirty="0"/>
          </a:p>
        </p:txBody>
      </p:sp>
      <p:sp>
        <p:nvSpPr>
          <p:cNvPr id="54" name="Text 52"/>
          <p:cNvSpPr/>
          <p:nvPr/>
        </p:nvSpPr>
        <p:spPr>
          <a:xfrm>
            <a:off x="9015984" y="289864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power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034272" y="324612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 W as 28 nm ASIC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0080" y="39776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D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BIT-EXACT VERIFICATION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68680" y="452628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datapath checked against software golden vectors.
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53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unit testbenches pass bit-exact</a:t>
            </a:r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(CSD MAC slice, SCE MAC array, requant, SiLU LUT). Top-level decoder honestly marked INCONCLUSIVE.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355080" y="3977640"/>
            <a:ext cx="5193792" cy="1920240"/>
          </a:xfrm>
          <a:prstGeom prst="roundRect">
            <a:avLst>
              <a:gd name="adj" fmla="val 4286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pic>
        <p:nvPicPr>
          <p:cNvPr id="60" name="Image 0" descr="C:\Users\light\AppData\Roaming\simular-unified-ui\SimularFiles\artifacts\pptx_build\d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4114800"/>
            <a:ext cx="2331720" cy="1645920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9006840" y="429768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fixed-point inference
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CSD MACs · ~255 FPS/W
</a:t>
            </a:r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the RTL, frame for frame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estimates · docs/COST_COMPARISON.md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algn="l" indent="0" marL="0">
              <a:buNone/>
            </a:pPr>
            <a:r>
              <a:rPr lang="en-US" sz="1300" b="1" spc="200" kern="0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&amp; EFFICIENCY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607040" y="457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 as silicon — the economics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640080" y="192024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202996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~0.2 W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731520" y="2852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draw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9808" y="320040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 W Jetson Orin Nano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01568" y="192024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01568" y="202996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~$2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3493008" y="2852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chip @ 100k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511296" y="320040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$249 Jetson · ~$2.5M NRE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63056" y="1920240"/>
            <a:ext cx="2606040" cy="1783080"/>
          </a:xfrm>
          <a:prstGeom prst="roundRect">
            <a:avLst>
              <a:gd name="adj" fmla="val 4615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2029968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26×</a:t>
            </a:r>
            <a:endParaRPr lang="en-US" sz="4400" dirty="0"/>
          </a:p>
        </p:txBody>
      </p:sp>
      <p:sp>
        <p:nvSpPr>
          <p:cNvPr id="50" name="Text 48"/>
          <p:cNvSpPr/>
          <p:nvPr/>
        </p:nvSpPr>
        <p:spPr>
          <a:xfrm>
            <a:off x="6254496" y="2852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energy / frame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272784" y="3200400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73× vs GPU · 6× vs Hailo-8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924544" y="1920240"/>
            <a:ext cx="2624328" cy="1783080"/>
          </a:xfrm>
          <a:prstGeom prst="roundRect">
            <a:avLst>
              <a:gd name="adj" fmla="val 4615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24544" y="2029968"/>
            <a:ext cx="2624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~11×</a:t>
            </a:r>
            <a:endParaRPr lang="en-US" sz="4400" dirty="0"/>
          </a:p>
        </p:txBody>
      </p:sp>
      <p:sp>
        <p:nvSpPr>
          <p:cNvPr id="54" name="Text 52"/>
          <p:cNvSpPr/>
          <p:nvPr/>
        </p:nvSpPr>
        <p:spPr>
          <a:xfrm>
            <a:off x="9015984" y="28529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3-yr TCO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034272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$2.78M vs $30.8M @100k 24/7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0080" y="397764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WINS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68680" y="45262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7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FPS/W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no weight SRAM / no DRAM  ·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53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DSP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~37.6 mAP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deterministic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ms latency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every frame, no jitter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035040" y="3977640"/>
            <a:ext cx="5513832" cy="1920240"/>
          </a:xfrm>
          <a:prstGeom prst="roundRect">
            <a:avLst>
              <a:gd name="adj" fmla="val 4286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pic>
        <p:nvPicPr>
          <p:cNvPr id="60" name="Image 0" descr="C:\Users\light\AppData\Roaming\simular-unified-ui\SimularFiles\artifacts\pptx_build\cost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4114800"/>
            <a:ext cx="5239512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Fixed-weight YOLOv10n · Kintex-7 (XC7K325T)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algn="l" indent="0" marL="0">
              <a:buNone/>
            </a:pPr>
            <a:r>
              <a:rPr lang="en-US" sz="1300" b="1" spc="200" kern="0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BET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607040" y="457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bet against hard-coded LLMs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640080" y="2011680"/>
            <a:ext cx="5349240" cy="3886200"/>
          </a:xfrm>
          <a:prstGeom prst="roundRect">
            <a:avLst>
              <a:gd name="adj" fmla="val 2118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COMPARABLE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8680" y="25420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Taalas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68680" y="315468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$219M raised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hard-code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silicon.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thesis: freezing a model into hardware is real, fundable, and powerful.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2200" y="2011680"/>
            <a:ext cx="5376672" cy="3886200"/>
          </a:xfrm>
          <a:prstGeom prst="roundRect">
            <a:avLst>
              <a:gd name="adj" fmla="val 2118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72200" y="2011680"/>
            <a:ext cx="109728" cy="3886200"/>
          </a:xfrm>
          <a:prstGeom prst="roundRect">
            <a:avLst>
              <a:gd name="adj" fmla="val 41667"/>
            </a:avLst>
          </a:prstGeom>
          <a:solidFill>
            <a:srgbClr val="F5B544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2194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BET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46520" y="25420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perception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6446520" y="3154680"/>
            <a:ext cx="49377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edge opportunity isn't language — it's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vision.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cameras need to see in milliwatts, privately, on-device. Non-LLM perception is the larger, faster-growing layer — and almost nobody is freezing it into silicon.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Fixed-weight YOLOv10n · Kintex-7 (XC7K325T)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</a:t>
            </a:r>
            <a:pPr algn="l" indent="0" marL="0">
              <a:buNone/>
            </a:pPr>
            <a:r>
              <a:rPr lang="en-US" sz="1300" b="1" spc="200" kern="0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&amp; INTEGRATION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607040" y="4572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bigger TAM — and a drop-in block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640080" y="1965960"/>
            <a:ext cx="5349240" cy="2331720"/>
          </a:xfrm>
          <a:prstGeom prst="roundRect">
            <a:avLst>
              <a:gd name="adj" fmla="val 3529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21214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(TAM)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868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Non-LLM edge AI
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~$20B (2024) → $100B+ by 2030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5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~28% CAGR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68680" y="3429000"/>
            <a:ext cx="4937760" cy="0"/>
          </a:xfrm>
          <a:prstGeom prst="line">
            <a:avLst/>
          </a:prstGeom>
          <a:noFill/>
          <a:ln w="12700">
            <a:solidFill>
              <a:srgbClr val="2736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3566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~$8B → ~$20B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(~15–18% CAGR)</a:t>
            </a:r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3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perception is a ~5× larger, faster-growing TAM.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172200" y="1965960"/>
            <a:ext cx="5376672" cy="2331720"/>
          </a:xfrm>
          <a:prstGeom prst="roundRect">
            <a:avLst>
              <a:gd name="adj" fmla="val 3529"/>
            </a:avLst>
          </a:prstGeom>
          <a:solidFill>
            <a:srgbClr val="0F1A30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1214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MODULAR BY DESIGN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0" y="2542032"/>
            <a:ext cx="4937760" cy="713232"/>
          </a:xfrm>
          <a:prstGeom prst="roundRect">
            <a:avLst>
              <a:gd name="adj" fmla="val 7692"/>
            </a:avLst>
          </a:prstGeom>
          <a:solidFill>
            <a:srgbClr val="13203A"/>
          </a:solidFill>
          <a:ln w="15875">
            <a:solidFill>
              <a:srgbClr val="4F8B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254203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AXI4-Lite  </a:t>
            </a:r>
            <a:pPr indent="0" marL="0"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control / configuration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6400800" y="3346704"/>
            <a:ext cx="4937760" cy="713232"/>
          </a:xfrm>
          <a:prstGeom prst="roundRect">
            <a:avLst>
              <a:gd name="adj" fmla="val 7692"/>
            </a:avLst>
          </a:prstGeom>
          <a:solidFill>
            <a:srgbClr val="13203A"/>
          </a:solidFill>
          <a:ln w="15875">
            <a:solidFill>
              <a:srgbClr val="F5B5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34670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AXI4-Stream  </a:t>
            </a:r>
            <a:pPr indent="0" marL="0">
              <a:buNone/>
            </a:pPr>
            <a:r>
              <a:rPr lang="en-US" sz="14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pixels in / detections out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640080" y="452628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8680" y="46634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Drops straight into any SoC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next to a CPU, an image-signal processor, or a RISC-V core — no glue logic. The next wave of edge AI won't run on smaller software; it'll be the model itself, etched in silicon.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331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996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0662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3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1324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4321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9652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49840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26496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03152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79808" y="0"/>
            <a:ext cx="0" cy="685800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7665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5331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2996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0662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059936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736592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13248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089904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766560"/>
            <a:ext cx="12191695" cy="0"/>
          </a:xfrm>
          <a:prstGeom prst="line">
            <a:avLst/>
          </a:prstGeom>
          <a:noFill/>
          <a:ln w="6350">
            <a:solidFill>
              <a:srgbClr val="27365B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2011680" y="-2011680"/>
            <a:ext cx="4754880" cy="4754880"/>
          </a:xfrm>
          <a:prstGeom prst="ellipse">
            <a:avLst/>
          </a:prstGeom>
          <a:solidFill>
            <a:srgbClr val="4F8BFF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0" y="4206240"/>
            <a:ext cx="4937760" cy="4937760"/>
          </a:xfrm>
          <a:prstGeom prst="ellipse">
            <a:avLst/>
          </a:prstGeom>
          <a:solidFill>
            <a:srgbClr val="F5B544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437376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SiliconYOLO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6437376"/>
            <a:ext cx="5513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github.com/kejiwuxian/SiliconYOLO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AI agents designed AI silicon —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640080" y="2057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we kept them honest.</a:t>
            </a:r>
            <a:endParaRPr lang="en-US" sz="3400" dirty="0"/>
          </a:p>
        </p:txBody>
      </p:sp>
      <p:sp>
        <p:nvSpPr>
          <p:cNvPr id="39" name="Shape 37"/>
          <p:cNvSpPr/>
          <p:nvPr/>
        </p:nvSpPr>
        <p:spPr>
          <a:xfrm>
            <a:off x="640080" y="320040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3200400"/>
            <a:ext cx="3520440" cy="91440"/>
          </a:xfrm>
          <a:prstGeom prst="rect">
            <a:avLst/>
          </a:prstGeom>
          <a:solidFill>
            <a:srgbClr val="4F8BFF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3401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68680" y="38587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 track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8680" y="422452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→ INT8 PTQ → freeze · golden vectors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370832" y="320040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70832" y="3200400"/>
            <a:ext cx="3520440" cy="9144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6" name="Text 44"/>
          <p:cNvSpPr/>
          <p:nvPr/>
        </p:nvSpPr>
        <p:spPr>
          <a:xfrm>
            <a:off x="4599432" y="3401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Cognichip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599432" y="38587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5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track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99432" y="422452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→ CSD RTL → Kintex-7 synthesis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101584" y="320040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3203A"/>
          </a:solidFill>
          <a:ln w="12700">
            <a:solidFill>
              <a:srgbClr val="27365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01584" y="3200400"/>
            <a:ext cx="3520440" cy="91440"/>
          </a:xfrm>
          <a:prstGeom prst="rect">
            <a:avLst/>
          </a:prstGeom>
          <a:solidFill>
            <a:srgbClr val="7FB2FF"/>
          </a:solidFill>
          <a:ln/>
        </p:spPr>
      </p:sp>
      <p:sp>
        <p:nvSpPr>
          <p:cNvPr id="51" name="Text 49"/>
          <p:cNvSpPr/>
          <p:nvPr/>
        </p:nvSpPr>
        <p:spPr>
          <a:xfrm>
            <a:off x="8330184" y="3401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Simular Sai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8330184" y="38587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B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330184" y="4224528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F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both agents · generated the demo video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FB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SiliconYOLO  ·  the model itself, etched in silicon — a drop-in vision brain for the next billion devices.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nsola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2026-06-21T15:53:32Z</dcterms:created>
  <dcterms:modified xsi:type="dcterms:W3CDTF">2026-06-21T15:53:32Z</dcterms:modified>
</cp:coreProperties>
</file>